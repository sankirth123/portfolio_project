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57DC-BEC7-3C2C-1E4A-CD9F6DC26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49F14-371F-449B-1168-E91B5ECE6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FAC8-D307-FEFD-8B5F-E7640683A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D64F1-8B3B-CD69-151B-C95C82CF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B1CB-637C-60B0-31E7-A08C5409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4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FCB4-FB8B-4063-F196-23B09B45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D8DA0-74E0-1A2D-891A-305DBA834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B3D83-6FB4-5C32-73CB-CC62829E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CC540-9CBF-0F5F-6523-54EA35D0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591F2-2516-3910-197B-F6001880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6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7329-B19D-0261-2ACA-548EAFF1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75DE2-78FB-4300-E5C7-852CEACD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EB543-060A-F8F2-A190-8DBF901B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B8110-AF42-4D75-2763-A799AEF5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A3DC-6B4C-2C7A-2462-8AE749F6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0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F672-F7B1-266D-3305-9ABAB100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A7E0-6849-9CFF-F2F3-3F0C7AAC6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BE928-EB23-987A-B62A-F44B9134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8A91D-12B1-5697-4281-36C6AD7A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6CD91-AF4F-18ED-5CE2-63588B6CE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4162C-66C3-DCC6-3FC3-4B9D5F68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9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997A-15D4-2186-24EB-1A9C678E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34FC4-FA3A-B329-EB80-49A3390A5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EFEE3-70E2-8872-A2FE-7BF4616DA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3420A-30C9-D235-2A03-098806A8B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59263-C6D8-22EE-F48D-16D7BC68A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6BD26-7FDD-764E-0ED8-A0855A69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B3562-6E01-6C78-4EBF-93121061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372890-BAB3-9B7D-29DB-CE62D8DB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3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B90A-EF95-A279-116C-F6229057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D7961-C2E6-EEA1-1AA1-2650B1020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5906F-98E4-CD15-0878-DB4FB2BE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676FB-06B5-FAED-DFD4-13B836C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7BE6C-D17C-F848-52CF-8A71DCEF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C61D8-D39D-B581-A648-4D6EBDB1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A6753-82D1-8720-7191-012A8A0B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6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A8DE-FB4E-1377-57EE-05781F6A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00A91-BF52-C877-9637-7C861345A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F83DD-60CA-E143-6630-AAB0E4ACA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A1BD2-FD4B-AC59-D1A4-454A5A8A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A6A1F-D1CA-E0C4-A963-8545D8CA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C457C-0B27-B167-0F9A-03457738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6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1621-5A7A-124F-5B7E-3244C6CC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B27F7-EECF-D231-10C8-B06CD9076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B3F8F-2DE1-624E-8775-B2931970F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B0A56-418C-DF7F-6170-F964F4BE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EAE1D-1D92-7D8B-21DD-93FC27B6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FA6FD-788F-6BA1-0667-C98C05D9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A7904-D8EA-64D1-3262-695C3ADC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9F8C3-942C-10E5-4FBB-4CD03C491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A899-DFD0-7DED-C49E-692B5B24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E857B-6A60-8366-6BAE-F8070671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66EA9-ED91-D218-8DB3-3D9B4F70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9645C-30AD-298A-A65A-CD3AD0F9A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04FCB-B32F-0513-3A7C-B2FCFE38E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E229-5D3C-1358-27D5-EAA1E55F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B3CC4-6986-459F-C5B9-A73D590F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2B4C8-AB57-6BC2-14A0-DB20144F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4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948F2-84B1-72CC-2DE4-524E678AB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D2CD8-63AD-FF58-9E3C-B8B84181C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AB01C-A31A-55CA-BEAB-87B7076DD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EAF5F-60F8-1950-0875-E4932E634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8FC76-9277-5DE0-4116-5C79E72FB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 descr="Neon laser lights aligned to form a triangle">
            <a:extLst>
              <a:ext uri="{FF2B5EF4-FFF2-40B4-BE49-F238E27FC236}">
                <a16:creationId xmlns:a16="http://schemas.microsoft.com/office/drawing/2014/main" id="{DCED901C-06F1-9C4D-CA62-90E165E936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t="8308" b="1692"/>
          <a:stretch>
            <a:fillRect/>
          </a:stretch>
        </p:blipFill>
        <p:spPr>
          <a:xfrm>
            <a:off x="3916521" y="1531256"/>
            <a:ext cx="10691280" cy="6013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55419E-F22C-C9E1-9F4A-56FA99006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0615" y="1924087"/>
            <a:ext cx="9078924" cy="1176746"/>
          </a:xfrm>
          <a:noFill/>
        </p:spPr>
        <p:txBody>
          <a:bodyPr anchor="b"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Fitly Customer Engagement &amp; Churn Analysis</a:t>
            </a: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FC2D2-0A91-44D9-9473-FAEB76104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44" y="1756426"/>
            <a:ext cx="6466762" cy="2615906"/>
          </a:xfrm>
          <a:noFill/>
        </p:spPr>
        <p:txBody>
          <a:bodyPr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Overview of Project business goals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Understanding churn drivers using engagement and support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6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84">
            <a:extLst>
              <a:ext uri="{FF2B5EF4-FFF2-40B4-BE49-F238E27FC236}">
                <a16:creationId xmlns:a16="http://schemas.microsoft.com/office/drawing/2014/main" id="{DDC95FA9-076A-421D-93A3-9C29819EB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A6C8D94-3813-4D93-A6A7-A97EFFBCF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3794673D-8563-4993-8E86-6D89D6E97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C8906114-25F0-4386-BC12-A5CB6A04F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9434651-094A-4780-979E-29A3042F5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C15BDC44-59B0-48DF-871F-0881BB593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618FCF5-B341-43DF-A055-DC56EA920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59408E04-9221-499E-B0F3-3AFD9025F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067B1604-40F1-4335-8A11-6091E0F52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C1CAFF-83E4-8A5F-0491-7129752F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935" y="10835"/>
            <a:ext cx="9114766" cy="1157924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Overview &amp; Business Goals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A00467E-A507-4BEF-AAB5-2B35F13FA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4BCCBFD-2A87-46DC-A665-6039BF72D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91707DB8-2262-4E11-B8E7-A0042E439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8DCA04D0-796D-4920-BED4-627870868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78B0366-955C-44C5-B011-378E1994D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38F216F-4DA3-4165-A786-E7F2710B8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5E35C12-B6B4-4F57-950C-6EB3CD8F4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B14810E-84F3-4F8A-AF58-F452B9815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3687E051-F20C-4A55-AEDD-ED9B2D996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CF834F70-7A0E-4202-8ECC-5EE81C93C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2993E0E-3E7B-48D8-A799-39FECD3E1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5B12773A-5C03-4DD5-B9B4-24F4A429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EB7EF68-8BDE-4D26-C8C0-6E964ABF0910}"/>
              </a:ext>
            </a:extLst>
          </p:cNvPr>
          <p:cNvSpPr txBox="1"/>
          <p:nvPr/>
        </p:nvSpPr>
        <p:spPr>
          <a:xfrm>
            <a:off x="285457" y="1638215"/>
            <a:ext cx="7574688" cy="461967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Analyzing customer engagement, support, and churn.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Identifying early churn indicators.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Implement leadership KPIs to support data-driven, proactive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0000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D4AD0ED-45F1-4AB2-8C18-7DED238A0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430622-9855-482E-98A8-1FAECC909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5C76D5-716D-420A-ABDC-55BF6D9ED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9875022-E2DB-4A9E-8832-E7009F0E4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BFBDCA6-4D2C-451E-8205-8C334DCE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395B2B7-3263-461B-8800-669EBE884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727DC78-6D51-415D-878D-516F840FB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405FB7A-34E4-454E-80C1-3AF31F600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6EC0F8-CE39-4C95-B52D-033DBF561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0CEBCE-9C06-7B5C-4F49-051149B2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935" y="450160"/>
            <a:ext cx="8229600" cy="996362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Business Problem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162FBC-1EE8-4355-8B2B-CB9A5B4BD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2940EF9-7ECF-49BA-8F14-5EBC7ADE0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F9A5AE3-5A1E-4528-BDC2-D32A66EFF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39C6801-3BB8-4C41-9385-D9CE4F148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EA6929-FF51-4E95-8E16-80E9F371A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E91CBD-B19A-4299-90BD-CC3AB6976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26CE109B-4241-4CF1-B587-868774BB4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D107650-C271-404F-98D8-BB8E7E030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F01725-EDBB-493E-A610-EF9ACBABB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C8E2A80-F420-488D-AE39-E20BC61B1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8A20B2-85E4-4C64-A75F-376DA772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88BDCE8-2392-4F5E-B6B4-AD19C903B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8AA3FDE-F472-7522-824D-DC90E45B4920}"/>
              </a:ext>
            </a:extLst>
          </p:cNvPr>
          <p:cNvSpPr txBox="1"/>
          <p:nvPr/>
        </p:nvSpPr>
        <p:spPr>
          <a:xfrm>
            <a:off x="766618" y="2121750"/>
            <a:ext cx="83773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Churn impacts recurring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Churn Identified too late to intervene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Business Need early behavioral and operational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250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3A83E-AD34-4007-E262-3BA276B4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3F0705A-EC4D-5FC3-1FD4-0F44EAB04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289698-FA76-EB7E-6A96-F0A1C035B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9E3F76-45B3-BB59-E829-90F698D14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0B0B54B-1419-F15E-3665-A30D42AB1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6AD0032-6433-3533-69D3-9ABE4ECE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331C41E-0FC7-AD5C-5DB3-4BE9524B7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54FAB54-EC9B-4C6B-FF03-15B85BCCA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F885C69-B0F4-6F38-5796-5348B3B7F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995BF55-F99E-AFFF-DDF6-5F257E63B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45C556-32DD-B20E-0507-421761D3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564" y="120377"/>
            <a:ext cx="8229600" cy="827962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Work Undertaken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B85E5-AE4A-0673-D9EF-787A89746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65C4A5-B328-6C95-6207-5B2B872D8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13E2D6B-92B5-1BE8-F26D-1CDAD4A5E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BA270B2-FD6E-EF6B-695E-3E41EAB50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F9A63C-1BE4-A57C-4A34-BA146E7D2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474635-4D71-4F8E-D5DF-C16E290CB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6ED2454F-2880-C2CD-1AC4-A383D0C17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7F9B01-7A31-7AEB-04CA-A304AD9AB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41AB872-E80F-67AB-B383-B510F3F0F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29EA46A-C82B-F162-45F6-2CB2056C1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761B28-F8A5-9A5F-31C4-138565BC1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24740D3-7C21-E23B-A6BA-9BA888248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2820C6-44BA-7B68-79C3-9D59D59CFF1A}"/>
              </a:ext>
            </a:extLst>
          </p:cNvPr>
          <p:cNvSpPr txBox="1"/>
          <p:nvPr/>
        </p:nvSpPr>
        <p:spPr>
          <a:xfrm>
            <a:off x="727256" y="1395629"/>
            <a:ext cx="83773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Cleaned and validated multiple datasets.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Standardized identifiers and durations.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Integrated data at user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Built engagement segments.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Performed exploratory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03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131AA-A76C-C303-92BF-5A243074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C355150-D161-B7DB-B82A-3740E2AD3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AE562D-F538-F50D-00CB-CA30D6BCB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992B0A2-1BF6-D30C-CF56-3A1A5C31A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220F264-C2BB-491F-1BB3-C017DB0F4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2098AD9-A4E5-0E6A-E5D2-725E8FC4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F0ED6F1-DA29-4BE5-12A1-8AEF59A82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C29188C-1F0C-5B1D-1DB9-A676CA084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761FF65-619D-8D24-EC55-CAD3CB798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7EDAD7B-9B91-7377-4DCB-EE2FB63A3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714205-7A05-392F-DC0B-ADB544B5F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1" y="-298990"/>
            <a:ext cx="12111199" cy="827962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Analysis: Distribution of Event Time Single-Variable (Engagement)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ED7EC1-5BFF-9F9D-2214-03B2625B5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89FCDBF-C867-7B01-FC21-B9E22BFE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04944B-1576-49CC-EED7-9509A4662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A421A64-95BF-CB3A-676B-6FAF69023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8334949-DF63-0523-5485-7F81DB0C2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E0DD50-AD72-C907-760D-F378377B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4254F12F-B6CF-A860-3B9A-44A8BCEC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FB04C77-0E5B-5602-C5B8-D35412A0F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3E014E-CE61-9949-FDFC-67C19320D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26B0883-CA61-A075-2ADD-4871B4787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12829F-F0DE-A0F3-9825-9EFC6F1A2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89CCB60-2137-7EA2-2BEF-778088018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76FA2C-79E5-3BDC-652E-84007BA4D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176" y="1501124"/>
            <a:ext cx="6388776" cy="51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103ED7-575B-9F36-9727-412CFC309771}"/>
              </a:ext>
            </a:extLst>
          </p:cNvPr>
          <p:cNvSpPr txBox="1"/>
          <p:nvPr/>
        </p:nvSpPr>
        <p:spPr>
          <a:xfrm>
            <a:off x="80801" y="1520331"/>
            <a:ext cx="502458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Findings: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Most activity durations are concentrated in a mid-range, with a noticeable right-skewed tail. This indicates that the majority of users engage in moderate-length sessions, while a smaller subset of users exhibits significantly longer activity durations representing highly engaged or “power” users.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Business Insight / Implication: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This pattern suggests a healthy baseline level of engagement across the user base, with opportunities to further analyze long-session users to understand behaviors that drive deeper engagement. These insights can inform targeted retention strategies, feature optimization, and personalized experiences aimed at increasing average session duration.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D22392-203B-A565-231D-8C52CACD9C21}"/>
              </a:ext>
            </a:extLst>
          </p:cNvPr>
          <p:cNvSpPr txBox="1">
            <a:spLocks/>
          </p:cNvSpPr>
          <p:nvPr/>
        </p:nvSpPr>
        <p:spPr>
          <a:xfrm>
            <a:off x="-449584" y="1059052"/>
            <a:ext cx="12188952" cy="38637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The histogram displays the distribution of event durations (in seconds), illustrating how long individual user activities last.</a:t>
            </a:r>
          </a:p>
        </p:txBody>
      </p:sp>
    </p:spTree>
    <p:extLst>
      <p:ext uri="{BB962C8B-B14F-4D97-AF65-F5344CB8AC3E}">
        <p14:creationId xmlns:p14="http://schemas.microsoft.com/office/powerpoint/2010/main" val="338692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AE2E3-1A9B-20EB-E07C-62D6A450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0D7D124-D665-FF17-8CF8-90C6EB0E0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4A5685-1A63-10B2-C225-FB7260FA0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52D8225-4FD5-3425-F4AE-78941AA1F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C60D63F-D869-0E40-95A6-D72AFED84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06BA62B-416D-5765-2EE5-3F075F473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2F53823-3962-5180-A207-1C0DC6498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BA26EED-1A26-102A-BA0E-E1A50C2E8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C26885B-FC68-D516-CB8B-23D4EB333C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1D35B99-D70A-6474-C82A-164E3CEAC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81DF81-676D-0A3C-95A1-DFDDEE5D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87" y="341176"/>
            <a:ext cx="12111199" cy="699448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br>
              <a:rPr lang="en-US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Single-Variable Analysis:  Average support resolution time per user in HRS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6815C6-BD48-042E-DFBC-A15C6DA3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85943C8-7F2E-3A07-443D-3F429589F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5CC57E5-0038-76BE-52A2-77B9D7C59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6C7B902-4736-D8E2-FD7A-10E08AFAD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F4C8BE5-8BB8-000B-C776-149BBD868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BD715A-EF13-00C2-4CDA-4C89584E6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62E55748-550E-1E29-0A5F-AFB9E9F66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02F15A2-5522-645A-5AE6-047A19578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4543889-0C4D-4699-CDFE-2CEABBDC3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FB418F5-C2A1-77BE-24E1-71C027EEB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207FE04-E2B7-E201-846E-AC8AEE002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1183A4-BAE9-269E-AC3F-40D98132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0F7C38F-393B-9E4F-2907-AE69C19DD5FE}"/>
              </a:ext>
            </a:extLst>
          </p:cNvPr>
          <p:cNvSpPr txBox="1"/>
          <p:nvPr/>
        </p:nvSpPr>
        <p:spPr>
          <a:xfrm>
            <a:off x="80801" y="1520331"/>
            <a:ext cx="502458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Findings: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Most users have average resolution times clustered between </a:t>
            </a:r>
            <a:r>
              <a:rPr lang="en-US" b="1" dirty="0">
                <a:solidFill>
                  <a:schemeClr val="bg1"/>
                </a:solidFill>
              </a:rPr>
              <a:t>4 to 9 hours</a:t>
            </a:r>
            <a:r>
              <a:rPr lang="en-US" dirty="0">
                <a:solidFill>
                  <a:schemeClr val="bg1"/>
                </a:solidFill>
              </a:rPr>
              <a:t>, indicating that the majority receive support within a reasonable timeframe. However, the distribution is </a:t>
            </a:r>
            <a:r>
              <a:rPr lang="en-US" b="1" dirty="0">
                <a:solidFill>
                  <a:schemeClr val="bg1"/>
                </a:solidFill>
              </a:rPr>
              <a:t>right-skewed</a:t>
            </a:r>
            <a:r>
              <a:rPr lang="en-US" dirty="0">
                <a:solidFill>
                  <a:schemeClr val="bg1"/>
                </a:solidFill>
              </a:rPr>
              <a:t>, with a long tail extending beyond </a:t>
            </a:r>
            <a:r>
              <a:rPr lang="en-US" b="1" dirty="0">
                <a:solidFill>
                  <a:schemeClr val="bg1"/>
                </a:solidFill>
              </a:rPr>
              <a:t>15–30 hours</a:t>
            </a:r>
            <a:r>
              <a:rPr lang="en-US" dirty="0">
                <a:solidFill>
                  <a:schemeClr val="bg1"/>
                </a:solidFill>
              </a:rPr>
              <a:t>, representing a small subset of users who consistently experience significantly slower support resolution.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Business Insight / Implication: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While overall support performance appears stable for most users, the long-tail group signals </a:t>
            </a:r>
            <a:r>
              <a:rPr lang="en-US" b="1" dirty="0">
                <a:solidFill>
                  <a:schemeClr val="bg1"/>
                </a:solidFill>
              </a:rPr>
              <a:t>systematic delays rather than one-off incidents</a:t>
            </a:r>
            <a:r>
              <a:rPr lang="en-US" dirty="0">
                <a:solidFill>
                  <a:schemeClr val="bg1"/>
                </a:solidFill>
              </a:rPr>
              <a:t>. These users are at higher risk of dissatisfaction and churn and should be investigated separately to identify root causes such as repeated escalations, complex issues, or support capacity constraints.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5D5B2-A4E1-12EA-7162-87F1AC85A02E}"/>
              </a:ext>
            </a:extLst>
          </p:cNvPr>
          <p:cNvSpPr txBox="1">
            <a:spLocks/>
          </p:cNvSpPr>
          <p:nvPr/>
        </p:nvSpPr>
        <p:spPr>
          <a:xfrm>
            <a:off x="-2232202" y="1127990"/>
            <a:ext cx="12188952" cy="38637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The distribution of </a:t>
            </a:r>
            <a:r>
              <a:rPr lang="en-US" sz="1800" b="1" dirty="0">
                <a:solidFill>
                  <a:schemeClr val="bg1"/>
                </a:solidFill>
              </a:rPr>
              <a:t>average support resolution time per user</a:t>
            </a:r>
            <a:r>
              <a:rPr lang="en-US" sz="1800" dirty="0">
                <a:solidFill>
                  <a:schemeClr val="bg1"/>
                </a:solidFill>
              </a:rPr>
              <a:t>, measured in hours.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2C3094-1C1F-34DD-ED33-55C974DB4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886" y="1575784"/>
            <a:ext cx="7052114" cy="52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67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B7281-8D9F-2EC5-FF38-432089BE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FACE725-E54D-57C8-64A8-899240A0F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E86FC4-A4D6-DF1E-805E-2D33FF5FC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D3A795-7E21-D84C-9D57-4096888F5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390FF33-6A17-F7D5-0A98-27A77152A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08D047D-5C40-81B3-3A73-4183E0B8D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174ED38-3D6B-9F15-0FCE-F5879101E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E490DAF-6FE9-7AD6-E837-F7F3F0EFD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75AEC14-3620-EB5B-93E7-6A8990B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F5C4D48-54A5-06E8-DE37-2E63FF291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158918-46AA-062E-1BC5-A0DE1060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87" y="-341936"/>
            <a:ext cx="12111199" cy="1477062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Multivariable graph of two variables Churn rate by engagement segment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2815C5-19C1-62AA-290C-D5BA3AFC6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23EC5A8-FBDC-AE1D-91ED-D5149BD5F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63D3F9-BFC5-C692-8610-B645E7758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90686E-1526-F145-408B-C0B76B505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297C66-AF08-9A6D-976E-F25C20489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0E3AA84-02E1-DF44-3545-90D720B00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A4B19D09-88F9-4458-0AF6-B51218809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83EBA0E-C90B-987A-2A51-F4EF9B920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4CBE7AB-F6AC-49CE-05ED-7CC6D99B1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F7CA7E1-D781-98ED-0F78-3DFAAC1B9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2D9BEAC-F342-BDCF-22E2-35E43C1EC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A5F6132-54CE-11DF-046A-1D8936FEC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78C54A3-E93B-E77C-0A9A-E3B496AEC52F}"/>
              </a:ext>
            </a:extLst>
          </p:cNvPr>
          <p:cNvSpPr txBox="1"/>
          <p:nvPr/>
        </p:nvSpPr>
        <p:spPr>
          <a:xfrm>
            <a:off x="80801" y="1520331"/>
            <a:ext cx="502458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Findings: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Churn rates are lowest for </a:t>
            </a:r>
            <a:r>
              <a:rPr lang="en-US" b="1" dirty="0">
                <a:solidFill>
                  <a:schemeClr val="bg1"/>
                </a:solidFill>
              </a:rPr>
              <a:t>Low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Medium</a:t>
            </a:r>
            <a:r>
              <a:rPr lang="en-US" dirty="0">
                <a:solidFill>
                  <a:schemeClr val="bg1"/>
                </a:solidFill>
              </a:rPr>
              <a:t> engagement users 10%, increase sharply for </a:t>
            </a:r>
            <a:r>
              <a:rPr lang="en-US" b="1" dirty="0">
                <a:solidFill>
                  <a:schemeClr val="bg1"/>
                </a:solidFill>
              </a:rPr>
              <a:t>High engagement</a:t>
            </a:r>
            <a:r>
              <a:rPr lang="en-US" dirty="0">
                <a:solidFill>
                  <a:schemeClr val="bg1"/>
                </a:solidFill>
              </a:rPr>
              <a:t> users 18%, and then decline for </a:t>
            </a:r>
            <a:r>
              <a:rPr lang="en-US" b="1" dirty="0">
                <a:solidFill>
                  <a:schemeClr val="bg1"/>
                </a:solidFill>
              </a:rPr>
              <a:t>Very High engagement</a:t>
            </a:r>
            <a:r>
              <a:rPr lang="en-US" dirty="0">
                <a:solidFill>
                  <a:schemeClr val="bg1"/>
                </a:solidFill>
              </a:rPr>
              <a:t> users 13%. This non-linear pattern suggests that churn risk does not decrease monotonically with engagement.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Business Insight / Implication: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Users in the </a:t>
            </a:r>
            <a:r>
              <a:rPr lang="en-US" b="1" dirty="0">
                <a:solidFill>
                  <a:schemeClr val="bg1"/>
                </a:solidFill>
              </a:rPr>
              <a:t>High engagement</a:t>
            </a:r>
            <a:r>
              <a:rPr lang="en-US" dirty="0">
                <a:solidFill>
                  <a:schemeClr val="bg1"/>
                </a:solidFill>
              </a:rPr>
              <a:t> segment may represent customers who are actively using the platform but experiencing friction, unmet expectations, or product limitations—leading to elevated churn risk. In contrast, </a:t>
            </a:r>
            <a:r>
              <a:rPr lang="en-US" b="1" dirty="0">
                <a:solidFill>
                  <a:schemeClr val="bg1"/>
                </a:solidFill>
              </a:rPr>
              <a:t>Very High engagement</a:t>
            </a:r>
            <a:r>
              <a:rPr lang="en-US" dirty="0">
                <a:solidFill>
                  <a:schemeClr val="bg1"/>
                </a:solidFill>
              </a:rPr>
              <a:t> users appear more loyal, possibly due to stronger product fit or habit formation.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DFA16E-79CB-0A17-D995-3636F61A20B8}"/>
              </a:ext>
            </a:extLst>
          </p:cNvPr>
          <p:cNvSpPr txBox="1">
            <a:spLocks/>
          </p:cNvSpPr>
          <p:nvPr/>
        </p:nvSpPr>
        <p:spPr>
          <a:xfrm>
            <a:off x="-2232202" y="1127990"/>
            <a:ext cx="12188952" cy="38637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The distribution of </a:t>
            </a:r>
            <a:r>
              <a:rPr lang="en-US" sz="1800" b="1" dirty="0">
                <a:solidFill>
                  <a:schemeClr val="bg1"/>
                </a:solidFill>
              </a:rPr>
              <a:t>average support resolution time per user</a:t>
            </a:r>
            <a:r>
              <a:rPr lang="en-US" sz="1800" dirty="0">
                <a:solidFill>
                  <a:schemeClr val="bg1"/>
                </a:solidFill>
              </a:rPr>
              <a:t>, measured in hours.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C587923-1ECB-0CB1-0074-667D3F2F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318" y="1604583"/>
            <a:ext cx="7177798" cy="513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677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7CCA4-5CE4-71EB-1F44-7EDF1A66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6DF4671-512D-B75C-1193-86F041BCC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F2004A9-B9BF-05E4-E5E6-FEA18D490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FACAC41-41FE-2244-2BF7-F9B6311E8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E3CBA76-A0AE-CD02-9570-2C1B2D005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6E24CAF-1A68-4B51-2972-24074A889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3FBD088-A511-58D7-0EA0-318729358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CEFD675-B2B8-F406-741A-8150A7DD2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9082852-633D-E711-F424-B82DFB833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DD5F0EC-CDC0-A74F-EEB3-ED901FA6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442842-96BB-4684-7D7B-F466AC39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4068" y="-162980"/>
            <a:ext cx="5024584" cy="749049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Key Findings: Engagement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B2755B-D745-0402-2E58-613BF900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8D82453-069D-76F3-6AA2-E13E90B7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C3E9A6-4BA5-6760-242E-B54D59506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916341-4295-203B-7D5D-536DDFC42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DFFE52-622B-8F23-AFC7-BF952D8D9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BB4383-10DB-E854-1832-F0790A3E9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AF4ACD9F-9D1F-ED31-B938-62D9FF059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37A9233-6ACC-CFDA-AFE3-055B7EF6F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48899FE-D696-B34D-4E91-8BEFE23AB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0224718-C2D6-A02F-965F-22E0CEF35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C85A9E6-898B-2430-E0AA-DA3334A48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FB83B07-09D5-3C62-45BD-7703563EF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6CD4FB34-D04C-2C54-744D-5E5A497F0433}"/>
              </a:ext>
            </a:extLst>
          </p:cNvPr>
          <p:cNvSpPr txBox="1">
            <a:spLocks/>
          </p:cNvSpPr>
          <p:nvPr/>
        </p:nvSpPr>
        <p:spPr>
          <a:xfrm>
            <a:off x="86902" y="500868"/>
            <a:ext cx="9716605" cy="191216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Most users show medium engagement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 Small group of power users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Engagement varies significantly across users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392315-A4E5-752C-0177-9339D0FA2670}"/>
              </a:ext>
            </a:extLst>
          </p:cNvPr>
          <p:cNvSpPr txBox="1">
            <a:spLocks/>
          </p:cNvSpPr>
          <p:nvPr/>
        </p:nvSpPr>
        <p:spPr>
          <a:xfrm>
            <a:off x="6365590" y="-152428"/>
            <a:ext cx="5739508" cy="74904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</a:rPr>
              <a:t>Key Findings: Customer Support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D6BBC4-EE72-CBD8-6ACF-F11AB728B2C3}"/>
              </a:ext>
            </a:extLst>
          </p:cNvPr>
          <p:cNvSpPr txBox="1">
            <a:spLocks/>
          </p:cNvSpPr>
          <p:nvPr/>
        </p:nvSpPr>
        <p:spPr>
          <a:xfrm>
            <a:off x="6474737" y="468928"/>
            <a:ext cx="5918283" cy="191216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Typical resolution times are reasonable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 Long tail of slow resolutions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Long-tail cases increase churn risk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5B6F1AB-CE99-C537-D4C5-A88889D80BB5}"/>
              </a:ext>
            </a:extLst>
          </p:cNvPr>
          <p:cNvSpPr txBox="1">
            <a:spLocks/>
          </p:cNvSpPr>
          <p:nvPr/>
        </p:nvSpPr>
        <p:spPr>
          <a:xfrm>
            <a:off x="-204068" y="2793744"/>
            <a:ext cx="5024584" cy="74904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</a:rPr>
              <a:t>Key Findings: Engagement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268DE65-7FDA-CED9-6B09-FFCE7766DDE3}"/>
              </a:ext>
            </a:extLst>
          </p:cNvPr>
          <p:cNvSpPr txBox="1">
            <a:spLocks/>
          </p:cNvSpPr>
          <p:nvPr/>
        </p:nvSpPr>
        <p:spPr>
          <a:xfrm>
            <a:off x="86902" y="3307617"/>
            <a:ext cx="5918283" cy="191216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Higher churn observed among low-engagement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 Engagement acts as leading churn indicator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D40D2F-9F04-A1BD-AF32-6F757306A4D3}"/>
              </a:ext>
            </a:extLst>
          </p:cNvPr>
          <p:cNvSpPr txBox="1"/>
          <p:nvPr/>
        </p:nvSpPr>
        <p:spPr>
          <a:xfrm>
            <a:off x="6474737" y="2878105"/>
            <a:ext cx="629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Key Findings: Customer Support</a:t>
            </a:r>
            <a:endParaRPr lang="en-US" sz="3200" b="1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506A0D4-B339-DD9C-D545-F4BA313D1511}"/>
              </a:ext>
            </a:extLst>
          </p:cNvPr>
          <p:cNvSpPr txBox="1">
            <a:spLocks/>
          </p:cNvSpPr>
          <p:nvPr/>
        </p:nvSpPr>
        <p:spPr>
          <a:xfrm>
            <a:off x="6505445" y="3335981"/>
            <a:ext cx="5918283" cy="181797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Churn Rate (8–9%)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 Engagement Health (avg event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Support SLA (median &amp; P90 resolution time)</a:t>
            </a:r>
          </a:p>
        </p:txBody>
      </p:sp>
    </p:spTree>
    <p:extLst>
      <p:ext uri="{BB962C8B-B14F-4D97-AF65-F5344CB8AC3E}">
        <p14:creationId xmlns:p14="http://schemas.microsoft.com/office/powerpoint/2010/main" val="43446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DFBCE-E066-D597-B3E8-DE9DED1C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7268318-6C56-85C9-0883-64166665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17350C-78F8-C578-36EB-4E5925481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B3A21B-80E4-3464-AD2A-58CA20B0C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6E758BD-7650-E3B0-6D7B-59EF38448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0186089-274C-3DD5-FD45-DE1A45259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E2D8846-C931-278A-81BF-C1BE6AEC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D4454AB-1690-3F67-DB6C-EC040344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5D5A218-3E2E-0061-ED21-C371D73FB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42F4465-909C-CE99-32B0-8F141B6D8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533850-67DE-86C9-2A81-485CC5BF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53311" y="-2"/>
            <a:ext cx="8478527" cy="749049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Business Recommendations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49BB33-A869-1413-DA6B-ABF417760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74BBD-FF53-DC81-AB63-07CF894ED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D8A7638-64E5-44C9-DC57-7969848CD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FE2C6E6-D792-FCAF-9909-5E665DE27E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5C925F2-E87D-595C-B7E5-75ACA1DE3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175F03-B881-2482-98D0-F75AD492D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937B4016-0BBB-D256-505C-1159752EF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D4E65B-CC9C-D598-59A5-B9F47AE4C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A857BAD-DBE5-3304-5AEC-7BB7EDB33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3D0693E-CCA5-49E9-339F-84D8E6794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18BE380-377B-59A7-44C7-68C91197C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E1AD4BA-F328-64A0-4C81-59DF34F57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D56F8834-E6F0-3C5E-F0C6-CDBCE59A64F3}"/>
              </a:ext>
            </a:extLst>
          </p:cNvPr>
          <p:cNvSpPr txBox="1">
            <a:spLocks/>
          </p:cNvSpPr>
          <p:nvPr/>
        </p:nvSpPr>
        <p:spPr>
          <a:xfrm>
            <a:off x="156148" y="1714799"/>
            <a:ext cx="9716605" cy="110605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Target low-engagement users with onboarding &amp; nudges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Reduce support long-tail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Monitor churn by engagement &amp; plan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4B83D-DE96-5C7D-66AA-0D448076EA00}"/>
              </a:ext>
            </a:extLst>
          </p:cNvPr>
          <p:cNvSpPr txBox="1"/>
          <p:nvPr/>
        </p:nvSpPr>
        <p:spPr>
          <a:xfrm>
            <a:off x="298236" y="29889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Final Takeaway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ADEA5-C293-7BCA-C280-8E357A50AB71}"/>
              </a:ext>
            </a:extLst>
          </p:cNvPr>
          <p:cNvSpPr txBox="1"/>
          <p:nvPr/>
        </p:nvSpPr>
        <p:spPr>
          <a:xfrm>
            <a:off x="353401" y="3676212"/>
            <a:ext cx="6922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Churn driven by engagement and support experience.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Engagement is the most actionable lever.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Focused KPIs enable proactive decision-making.</a:t>
            </a:r>
            <a:endParaRPr lang="en-US" sz="1800" dirty="0">
              <a:solidFill>
                <a:schemeClr val="bg1"/>
              </a:solidFill>
            </a:endParaRPr>
          </a:p>
          <a:p>
            <a:pPr algn="ctr"/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065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645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Fitly Customer Engagement &amp; Churn Analysis     </vt:lpstr>
      <vt:lpstr>Project Overview &amp; Business Goals</vt:lpstr>
      <vt:lpstr>Business Problem</vt:lpstr>
      <vt:lpstr>Work Undertaken</vt:lpstr>
      <vt:lpstr>Analysis: Distribution of Event Time Single-Variable (Engagement)</vt:lpstr>
      <vt:lpstr>  Single-Variable Analysis:  Average support resolution time per user in HRS</vt:lpstr>
      <vt:lpstr>Multivariable graph of two variables Churn rate by engagement segment </vt:lpstr>
      <vt:lpstr>Key Findings: Engagement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Margam, Sankirth</dc:creator>
  <cp:lastModifiedBy>Margam, Sankirth</cp:lastModifiedBy>
  <cp:revision>1</cp:revision>
  <dcterms:created xsi:type="dcterms:W3CDTF">2026-01-30T13:34:22Z</dcterms:created>
  <dcterms:modified xsi:type="dcterms:W3CDTF">2026-01-30T17:56:05Z</dcterms:modified>
</cp:coreProperties>
</file>